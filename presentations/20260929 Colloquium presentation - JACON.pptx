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B3A"/>
                </a:solidFill>
                <a:latin typeface="Calibri"/>
              </a:rPr>
              <a:t>Delay-line discriminator output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Vout / K</c:v>
                </c:pt>
              </c:strCache>
            </c:strRef>
          </c:tx>
          <c:spPr>
            <a:solidFill>
              <a:srgbClr val="13678A"/>
            </a:solidFill>
            <a:ln w="38100" cap="flat">
              <a:solidFill>
                <a:srgbClr val="1367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678A"/>
              </a:solidFill>
              <a:ln w="9525" cap="flat">
                <a:solidFill>
                  <a:srgbClr val="1367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1.000</c:v>
                  </c:pt>
                  <c:pt idx="1">
                    <c:v>1.005</c:v>
                  </c:pt>
                  <c:pt idx="2">
                    <c:v>1.010</c:v>
                  </c:pt>
                  <c:pt idx="3">
                    <c:v>1.015</c:v>
                  </c:pt>
                  <c:pt idx="4">
                    <c:v>1.020</c:v>
                  </c:pt>
                  <c:pt idx="5">
                    <c:v>1.025</c:v>
                  </c:pt>
                  <c:pt idx="6">
                    <c:v>1.030</c:v>
                  </c:pt>
                  <c:pt idx="7">
                    <c:v>1.035</c:v>
                  </c:pt>
                  <c:pt idx="8">
                    <c:v>1.040</c:v>
                  </c:pt>
                  <c:pt idx="9">
                    <c:v>1.045</c:v>
                  </c:pt>
                  <c:pt idx="10">
                    <c:v>1.050</c:v>
                  </c:pt>
                  <c:pt idx="11">
                    <c:v>1.055</c:v>
                  </c:pt>
                  <c:pt idx="12">
                    <c:v>1.060</c:v>
                  </c:pt>
                  <c:pt idx="13">
                    <c:v>1.065</c:v>
                  </c:pt>
                  <c:pt idx="14">
                    <c:v>1.070</c:v>
                  </c:pt>
                  <c:pt idx="15">
                    <c:v>1.075</c:v>
                  </c:pt>
                  <c:pt idx="16">
                    <c:v>1.080</c:v>
                  </c:pt>
                  <c:pt idx="17">
                    <c:v>1.085</c:v>
                  </c:pt>
                  <c:pt idx="18">
                    <c:v>1.090</c:v>
                  </c:pt>
                  <c:pt idx="19">
                    <c:v>1.095</c:v>
                  </c:pt>
                  <c:pt idx="20">
                    <c:v>1.100</c:v>
                  </c:pt>
                  <c:pt idx="21">
                    <c:v>1.105</c:v>
                  </c:pt>
                  <c:pt idx="22">
                    <c:v>1.110</c:v>
                  </c:pt>
                  <c:pt idx="23">
                    <c:v>1.115</c:v>
                  </c:pt>
                  <c:pt idx="24">
                    <c:v>1.120</c:v>
                  </c:pt>
                  <c:pt idx="25">
                    <c:v>1.125</c:v>
                  </c:pt>
                  <c:pt idx="26">
                    <c:v>1.130</c:v>
                  </c:pt>
                  <c:pt idx="27">
                    <c:v>1.135</c:v>
                  </c:pt>
                  <c:pt idx="28">
                    <c:v>1.140</c:v>
                  </c:pt>
                  <c:pt idx="29">
                    <c:v>1.145</c:v>
                  </c:pt>
                  <c:pt idx="30">
                    <c:v>1.150</c:v>
                  </c:pt>
                  <c:pt idx="31">
                    <c:v>1.155</c:v>
                  </c:pt>
                  <c:pt idx="32">
                    <c:v>1.160</c:v>
                  </c:pt>
                  <c:pt idx="33">
                    <c:v>1.165</c:v>
                  </c:pt>
                  <c:pt idx="34">
                    <c:v>1.170</c:v>
                  </c:pt>
                  <c:pt idx="35">
                    <c:v>1.175</c:v>
                  </c:pt>
                  <c:pt idx="36">
                    <c:v>1.180</c:v>
                  </c:pt>
                  <c:pt idx="37">
                    <c:v>1.185</c:v>
                  </c:pt>
                  <c:pt idx="38">
                    <c:v>1.190</c:v>
                  </c:pt>
                  <c:pt idx="39">
                    <c:v>1.195</c:v>
                  </c:pt>
                  <c:pt idx="40">
                    <c:v>1.200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0.14231483827328512</c:v>
                </c:pt>
                <c:pt idx="1">
                  <c:v>0.13524396220796933</c:v>
                </c:pt>
                <c:pt idx="2">
                  <c:v>0.12816619152109288</c:v>
                </c:pt>
                <c:pt idx="3">
                  <c:v>0.12108188703135501</c:v>
                </c:pt>
                <c:pt idx="4">
                  <c:v>0.11399140989054066</c:v>
                </c:pt>
                <c:pt idx="5">
                  <c:v>0.10689512156511322</c:v>
                </c:pt>
                <c:pt idx="6">
                  <c:v>0.09979338381778266</c:v>
                </c:pt>
                <c:pt idx="7">
                  <c:v>0.09268655868906892</c:v>
                </c:pt>
                <c:pt idx="8">
                  <c:v>0.08557500847883961</c:v>
                </c:pt>
                <c:pt idx="9">
                  <c:v>0.07845909572784522</c:v>
                </c:pt>
                <c:pt idx="10">
                  <c:v>0.07133918319923235</c:v>
                </c:pt>
                <c:pt idx="11">
                  <c:v>0.06421563386005533</c:v>
                </c:pt>
                <c:pt idx="12">
                  <c:v>0.05708881086276792</c:v>
                </c:pt>
                <c:pt idx="13">
                  <c:v>0.04995907752671424</c:v>
                </c:pt>
                <c:pt idx="14">
                  <c:v>0.04282679731960251</c:v>
                </c:pt>
                <c:pt idx="15">
                  <c:v>0.035692333838980496</c:v>
                </c:pt>
                <c:pt idx="16">
                  <c:v>0.028556050793696032</c:v>
                </c:pt>
                <c:pt idx="17">
                  <c:v>0.021418311985358148</c:v>
                </c:pt>
                <c:pt idx="18">
                  <c:v>0.014279481289787207</c:v>
                </c:pt>
                <c:pt idx="19">
                  <c:v>0.007139922638469488</c:v>
                </c:pt>
                <c:pt idx="20">
                  <c:v>-1.6081226496766366e-16</c:v>
                </c:pt>
                <c:pt idx="21">
                  <c:v>-0.007139922638469366</c:v>
                </c:pt>
                <c:pt idx="22">
                  <c:v>-0.014279481289787305</c:v>
                </c:pt>
                <c:pt idx="23">
                  <c:v>-0.021418311985357805</c:v>
                </c:pt>
                <c:pt idx="24">
                  <c:v>-0.028556050793696355</c:v>
                </c:pt>
                <c:pt idx="25">
                  <c:v>-0.03569233383898059</c:v>
                </c:pt>
                <c:pt idx="26">
                  <c:v>-0.04282679731960217</c:v>
                </c:pt>
                <c:pt idx="27">
                  <c:v>-0.0499590775267139</c:v>
                </c:pt>
                <c:pt idx="28">
                  <c:v>-0.05708881086276802</c:v>
                </c:pt>
                <c:pt idx="29">
                  <c:v>-0.0642156338600552</c:v>
                </c:pt>
                <c:pt idx="30">
                  <c:v>-0.07133918319923202</c:v>
                </c:pt>
                <c:pt idx="31">
                  <c:v>-0.07845909572784487</c:v>
                </c:pt>
                <c:pt idx="32">
                  <c:v>-0.0855750084788395</c:v>
                </c:pt>
                <c:pt idx="33">
                  <c:v>-0.0926865586890688</c:v>
                </c:pt>
                <c:pt idx="34">
                  <c:v>-0.09979338381778255</c:v>
                </c:pt>
                <c:pt idx="35">
                  <c:v>-0.10689512156511288</c:v>
                </c:pt>
                <c:pt idx="36">
                  <c:v>-0.11399140989054055</c:v>
                </c:pt>
                <c:pt idx="37">
                  <c:v>-0.12108188703135489</c:v>
                </c:pt>
                <c:pt idx="38">
                  <c:v>-0.12816619152109254</c:v>
                </c:pt>
                <c:pt idx="39">
                  <c:v>-0.13524396220796897</c:v>
                </c:pt>
                <c:pt idx="40">
                  <c:v>-0.142314838273285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819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8196"/>
                    </a:solidFill>
                    <a:latin typeface="Arial"/>
                  </a:rPr>
                  <a:t>IF frequency [GHz]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1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0.2"/>
          <c:min val="-0.2"/>
        </c:scaling>
        <c:delete val="0"/>
        <c:axPos val="l"/>
        <c:majorGridlines>
          <c:spPr>
            <a:ln w="1270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1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JACON = Jason's RACON draft design, the architecture we are prototyping. Team: Emmy, Sorin, Sofiia.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Panthalassa: maritime safety and energy buoys. They own three racons, all mission critical, ~$40k each, one already in repair from overvoltage - so we prototype rather than borrow. Reference commercial unit: Tideland SeaBeacon 2. Only the letter R is required (NAVSAC 16-01).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USCG: racons answer every radar pulse, begin replying &lt;700 ns later, ~25 us of Morse, painted just beyond the structure's own echo. 25 us = 2.0 nm of painted code (range = c*t/2). At 24 rpm with a 5.2 deg beam the buoy sits in the beam for 36 ms, so it is interrogated about 22 times per pass on the long-range PRR of 600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Bands and latency from the liaison and USCG. Radar figures are from the Furuno 18x4C/19x4C operator's manual specification page: 0.08 us / 2100 Hz on the 0.125-1.5 nm scales, 0.3 us / 1200 Hz on 1.5-3 nm, 0.8 us / 600 Hz on 3-72 nm; 24 rpm nominal; 5.2 deg horizontal beamwidth on the 2.2 kW radome, sidelobes -19 dB. Transmit ~1 W pulsed per the JACON drawing (liaison said 5 W at the upper end for a production unit).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drawing we are building to. Nine Mini-Circuits modules are already in hand; the rest are costed candidate parts. RX: horn, limiter, LNA ZX60-5123LN+, mixer ZX05-14LH-S+ against an ADF5355 PLL at 8.3 GHz, giving a 1.0-1.2 GHz IF. TX: VCO, keying switch, mixer back up, VHF-8400+ image-reject high pass, power amp, antenna.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design and the part we are testing now. A racon has to answer within a fraction of a percent of the frequency it heard, but we only know the band. Split the 1.1 GHz IF, delay one copy by about 0.23 ns (3-4 cm of cable), mix the two: the DC output is K*cos(2*pi*f*dt). Choosing dt so that 1.1 GHz lands at 90 degrees puts the whole 1.0-1.2 GHz band on the linear part of the cosine, so the held voltage is a direct measure of the incoming frequency and can retune the VCO. Verified in LTspice against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 diagram is also a cautionary one: driven at 750 mW both mixer ports sit about 3.5x over the 50 mW maximum, which is probably why we saw a strange curve instead of a cosine - we may have damaged that mixer. Safe source level is about +13 dBm for the mixer's nominal +7 dBm LO. Interrogator for final testing is the Furuno radar at 24 V; stand well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the lab photo into the placeholder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846320"/>
            <a:ext cx="2011680" cy="2011680"/>
          </a:xfrm>
          <a:prstGeom prst="ellipse">
            <a:avLst/>
          </a:prstGeom>
          <a:ln w="12700">
            <a:solidFill>
              <a:srgbClr val="FFB20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4297680"/>
            <a:ext cx="3108960" cy="3108960"/>
          </a:xfrm>
          <a:prstGeom prst="ellipse">
            <a:avLst/>
          </a:prstGeom>
          <a:ln w="12700">
            <a:solidFill>
              <a:srgbClr val="FFB20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3749040"/>
            <a:ext cx="4206240" cy="4206240"/>
          </a:xfrm>
          <a:prstGeom prst="ellipse">
            <a:avLst/>
          </a:prstGeom>
          <a:ln w="12700">
            <a:solidFill>
              <a:srgbClr val="FFB20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3200400"/>
            <a:ext cx="5303520" cy="5303520"/>
          </a:xfrm>
          <a:prstGeom prst="ellipse">
            <a:avLst/>
          </a:prstGeom>
          <a:ln w="12700">
            <a:solidFill>
              <a:srgbClr val="FFB20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5394960"/>
            <a:ext cx="914400" cy="914400"/>
          </a:xfrm>
          <a:prstGeom prst="ellipse">
            <a:avLst/>
          </a:prstGeom>
          <a:ln w="12700">
            <a:solidFill>
              <a:srgbClr val="FFB200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JACON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35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racon response prototype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41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Emmy Hoorn   ·   Sorin Jayaweera   ·   Sofiia Zaozerska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62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Panthalassa Clinic   ·   29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sees a buoy.</a:t>
            </a:r>
            <a:endParaRPr lang="en-US" sz="24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racon says which buoy.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08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COMMERCIAL UNIT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 nm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4608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RANGE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35440" y="2331720"/>
            <a:ext cx="1463040" cy="1463040"/>
          </a:xfrm>
          <a:prstGeom prst="ellipse">
            <a:avLst/>
          </a:prstGeom>
          <a:ln w="12700">
            <a:solidFill>
              <a:srgbClr val="13678A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1737360"/>
            <a:ext cx="2651760" cy="2651760"/>
          </a:xfrm>
          <a:prstGeom prst="ellipse">
            <a:avLst/>
          </a:prstGeom>
          <a:ln w="12700">
            <a:solidFill>
              <a:srgbClr val="13678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1143000"/>
            <a:ext cx="3840480" cy="3840480"/>
          </a:xfrm>
          <a:prstGeom prst="ellipse">
            <a:avLst/>
          </a:prstGeom>
          <a:ln w="12700">
            <a:solidFill>
              <a:srgbClr val="13678A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548640"/>
            <a:ext cx="5029200" cy="5029200"/>
          </a:xfrm>
          <a:prstGeom prst="ellipse">
            <a:avLst/>
          </a:prstGeom>
          <a:ln w="12700">
            <a:solidFill>
              <a:srgbClr val="13678A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10928" y="2807208"/>
            <a:ext cx="512064" cy="512064"/>
          </a:xfrm>
          <a:prstGeom prst="ellipse">
            <a:avLst/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pulse gets an answer.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5915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 —   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 “R”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700 ns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45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4069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µs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4745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MORSE</a:t>
            </a:r>
            <a:endParaRPr lang="en-US" sz="1150" dirty="0"/>
          </a:p>
        </p:txBody>
      </p:sp>
      <p:pic>
        <p:nvPicPr>
          <p:cNvPr id="11" name="Image 0" descr="anim_st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71600"/>
            <a:ext cx="6172200" cy="31272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40680" y="46451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Simulated: the beam sweeps the buoy, the buoy answers, and the code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paints 2 nm beyond it — then fades until the next pass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5577840"/>
            <a:ext cx="2377440" cy="2377440"/>
          </a:xfrm>
          <a:prstGeom prst="ellipse">
            <a:avLst/>
          </a:prstGeom>
          <a:ln w="12700">
            <a:solidFill>
              <a:srgbClr val="FFB20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937760"/>
            <a:ext cx="3657600" cy="3657600"/>
          </a:xfrm>
          <a:prstGeom prst="ellipse">
            <a:avLst/>
          </a:prstGeom>
          <a:ln w="12700">
            <a:solidFill>
              <a:srgbClr val="FFB20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03120" y="4297680"/>
            <a:ext cx="4937760" cy="4937760"/>
          </a:xfrm>
          <a:prstGeom prst="ellipse">
            <a:avLst/>
          </a:prstGeom>
          <a:ln w="12700">
            <a:solidFill>
              <a:srgbClr val="FFB200">
                <a:alpha val="18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– 9.5 GHz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9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BAND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 – 3.1 GHz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59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BAND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700 ns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459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LATENCY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µs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34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REPLY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W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334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TRANSMIT, PULSED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±5 / ±12 V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334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SUPPLY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Interrogating radar: 9.4 GHz, 0.08 – 0.8 µs pulses, 600 – 2100 Hz PRF, 24 rpm, 5.2° beam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JACON plan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at 9.4.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at 1.1.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at 9.4.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Superheterodyne both ways, around one 8.3 GHz local oscillator.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Jason's RACON draft design</a:t>
            </a:r>
            <a:endParaRPr lang="en-US" sz="1100" dirty="0"/>
          </a:p>
        </p:txBody>
      </p:sp>
      <p:pic>
        <p:nvPicPr>
          <p:cNvPr id="6" name="Image 0" descr="ja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20040"/>
            <a:ext cx="4800600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on the same frequency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told the band, not the frequency. So we measure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GHz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2286000"/>
            <a:ext cx="201168" cy="201168"/>
          </a:xfrm>
          <a:prstGeom prst="rightArrow">
            <a:avLst/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6624" y="19659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6B81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down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GHz LO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4256" y="2286000"/>
            <a:ext cx="201168" cy="201168"/>
          </a:xfrm>
          <a:prstGeom prst="rightArrow">
            <a:avLst/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9659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13678A"/>
          </a:solidFill>
          <a:ln w="12700">
            <a:solidFill>
              <a:srgbClr val="1367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GHz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01168" cy="201168"/>
          </a:xfrm>
          <a:prstGeom prst="rightArrow">
            <a:avLst/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9659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line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≈ 0.2 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01584" y="2286000"/>
            <a:ext cx="201168" cy="201168"/>
          </a:xfrm>
          <a:prstGeom prst="rightArrow">
            <a:avLst/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19659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6B81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57616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85248" y="2286000"/>
            <a:ext cx="201168" cy="201168"/>
          </a:xfrm>
          <a:prstGeom prst="rightArrow">
            <a:avLst/>
          </a:prstGeom>
          <a:solidFill>
            <a:srgbClr val="FFB200"/>
          </a:solidFill>
          <a:ln w="12700">
            <a:solidFill>
              <a:srgbClr val="FFB2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0" y="196596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0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23865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retunes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035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key the R and mix back up to 9.4 GHz.</a:t>
            </a:r>
            <a:endParaRPr lang="en-US" sz="14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2960" y="3611880"/>
          <a:ext cx="5394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6720840" y="39776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frequency in → one voltage out.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across the whole 1.0 – 1.2 GHz band.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picked so 1.1 GHz sits at 90°, mid-slope.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3800" dirty="0"/>
          </a:p>
        </p:txBody>
      </p:sp>
      <p:pic>
        <p:nvPicPr>
          <p:cNvPr id="3" name="Image 0" descr="C:/ThatFamily Dropbox/Sorin Jayaweera/allSaves/mudd/senior/clinic/documentation/JACON_bench_delay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7772400" cy="4215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57058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Pluto → splitter → unequal cables → mixer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86968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1783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Phase-detector bench test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LTspice model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budget, part by part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372160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an unknown frequency on the bench.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4828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SEMESTER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514807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that answers the Furuno.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"/>
            <a:ext cx="2194560" cy="2194560"/>
          </a:xfrm>
          <a:prstGeom prst="ellipse">
            <a:avLst/>
          </a:prstGeom>
          <a:ln w="12700">
            <a:solidFill>
              <a:srgbClr val="FFB20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822960"/>
            <a:ext cx="3474720" cy="3474720"/>
          </a:xfrm>
          <a:prstGeom prst="ellipse">
            <a:avLst/>
          </a:prstGeom>
          <a:ln w="12700">
            <a:solidFill>
              <a:srgbClr val="FFB20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ln w="12700">
            <a:solidFill>
              <a:srgbClr val="FFB2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-2103120"/>
            <a:ext cx="6035040" cy="6035040"/>
          </a:xfrm>
          <a:prstGeom prst="ellipse">
            <a:avLst/>
          </a:prstGeom>
          <a:ln w="12700">
            <a:solidFill>
              <a:srgbClr val="FFB200">
                <a:alpha val="2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Emmy Hoorn   ·   Sorin Jayaweera   ·   Sofiia Zaozerska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2360" y="20116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23A5C"/>
          </a:solidFill>
          <a:ln w="12700">
            <a:solidFill>
              <a:srgbClr val="1367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5236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photo in the lab 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JACON - Panthalassa Clinic</dc:title>
  <dc:subject>PptxGenJS Presentation</dc:subject>
  <dc:creator>Emmy Hoorn, Sorin Jayaweera, Sofiia Zaozerska</dc:creator>
  <cp:lastModifiedBy>Emmy Hoorn, Sorin Jayaweera, Sofiia Zaozerska</cp:lastModifiedBy>
  <cp:revision>1</cp:revision>
  <dcterms:created xsi:type="dcterms:W3CDTF">2026-09-26T21:54:39Z</dcterms:created>
  <dcterms:modified xsi:type="dcterms:W3CDTF">2026-09-26T21:54:39Z</dcterms:modified>
</cp:coreProperties>
</file>